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ontserrat Bold" charset="1" panose="00000800000000000000"/>
      <p:regular r:id="rId24"/>
    </p:embeddedFont>
    <p:embeddedFont>
      <p:font typeface="Poppins" charset="1" panose="00000500000000000000"/>
      <p:regular r:id="rId25"/>
    </p:embeddedFont>
    <p:embeddedFont>
      <p:font typeface="Montserrat" charset="1" panose="00000500000000000000"/>
      <p:regular r:id="rId26"/>
    </p:embeddedFont>
    <p:embeddedFont>
      <p:font typeface="Poppin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56107" y="5186947"/>
            <a:ext cx="9323926" cy="93239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29415" y="3517012"/>
            <a:ext cx="4552882" cy="9008658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63" r="0" b="-363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AutoShape 15" id="15"/>
          <p:cNvSpPr/>
          <p:nvPr/>
        </p:nvSpPr>
        <p:spPr>
          <a:xfrm>
            <a:off x="14586779" y="8929688"/>
            <a:ext cx="2672521" cy="0"/>
          </a:xfrm>
          <a:prstGeom prst="line">
            <a:avLst/>
          </a:prstGeom>
          <a:ln cap="rnd" w="657225">
            <a:solidFill>
              <a:srgbClr val="FF27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6697186" y="8696186"/>
            <a:ext cx="467003" cy="467003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67546" y="1023370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83307" y="1042878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9415" y="757597"/>
            <a:ext cx="882168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0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APPS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9415" y="1834898"/>
            <a:ext cx="8003485" cy="60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9"/>
              </a:lnSpc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89673" y="8724265"/>
            <a:ext cx="165158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22107" y="8724265"/>
            <a:ext cx="4171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1108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05312" y="4261301"/>
            <a:ext cx="10715152" cy="189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999"/>
              </a:lnSpc>
            </a:pPr>
            <a:r>
              <a:rPr lang="en-US" sz="9999" b="true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Academicpanel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3944" y="4921003"/>
            <a:ext cx="8941519" cy="89415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586779" y="8929688"/>
            <a:ext cx="2672521" cy="0"/>
          </a:xfrm>
          <a:prstGeom prst="line">
            <a:avLst/>
          </a:prstGeom>
          <a:ln cap="rnd" w="657225">
            <a:solidFill>
              <a:srgbClr val="FF27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697186" y="8696186"/>
            <a:ext cx="467003" cy="467003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042800" y="3903116"/>
            <a:ext cx="3096467" cy="2696998"/>
            <a:chOff x="0" y="0"/>
            <a:chExt cx="1453825" cy="12662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3826" cy="1266270"/>
            </a:xfrm>
            <a:custGeom>
              <a:avLst/>
              <a:gdLst/>
              <a:ahLst/>
              <a:cxnLst/>
              <a:rect r="r" b="b" t="t" l="l"/>
              <a:pathLst>
                <a:path h="1266270" w="1453826">
                  <a:moveTo>
                    <a:pt x="1329365" y="1266270"/>
                  </a:moveTo>
                  <a:lnTo>
                    <a:pt x="124460" y="1266270"/>
                  </a:lnTo>
                  <a:cubicBezTo>
                    <a:pt x="55880" y="1266270"/>
                    <a:pt x="0" y="1210390"/>
                    <a:pt x="0" y="11418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29366" y="0"/>
                  </a:lnTo>
                  <a:cubicBezTo>
                    <a:pt x="1397945" y="0"/>
                    <a:pt x="1453826" y="55880"/>
                    <a:pt x="1453826" y="124460"/>
                  </a:cubicBezTo>
                  <a:lnTo>
                    <a:pt x="1453826" y="1141810"/>
                  </a:lnTo>
                  <a:cubicBezTo>
                    <a:pt x="1453826" y="1210390"/>
                    <a:pt x="1397945" y="1266270"/>
                    <a:pt x="1329366" y="1266270"/>
                  </a:cubicBezTo>
                  <a:close/>
                </a:path>
              </a:pathLst>
            </a:custGeom>
            <a:solidFill>
              <a:srgbClr val="FF27C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373193" y="2814054"/>
            <a:ext cx="2435681" cy="243568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56733" y="3903116"/>
            <a:ext cx="3096467" cy="2696998"/>
            <a:chOff x="0" y="0"/>
            <a:chExt cx="1453825" cy="12662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3826" cy="1266270"/>
            </a:xfrm>
            <a:custGeom>
              <a:avLst/>
              <a:gdLst/>
              <a:ahLst/>
              <a:cxnLst/>
              <a:rect r="r" b="b" t="t" l="l"/>
              <a:pathLst>
                <a:path h="1266270" w="1453826">
                  <a:moveTo>
                    <a:pt x="1329365" y="1266270"/>
                  </a:moveTo>
                  <a:lnTo>
                    <a:pt x="124460" y="1266270"/>
                  </a:lnTo>
                  <a:cubicBezTo>
                    <a:pt x="55880" y="1266270"/>
                    <a:pt x="0" y="1210390"/>
                    <a:pt x="0" y="11418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29366" y="0"/>
                  </a:lnTo>
                  <a:cubicBezTo>
                    <a:pt x="1397945" y="0"/>
                    <a:pt x="1453826" y="55880"/>
                    <a:pt x="1453826" y="124460"/>
                  </a:cubicBezTo>
                  <a:lnTo>
                    <a:pt x="1453826" y="1141810"/>
                  </a:lnTo>
                  <a:cubicBezTo>
                    <a:pt x="1453826" y="1210390"/>
                    <a:pt x="1397945" y="1266270"/>
                    <a:pt x="1329366" y="1266270"/>
                  </a:cubicBezTo>
                  <a:close/>
                </a:path>
              </a:pathLst>
            </a:custGeom>
            <a:solidFill>
              <a:srgbClr val="FF27C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87126" y="2814054"/>
            <a:ext cx="2435681" cy="243568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49863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977505" y="5796146"/>
            <a:ext cx="3096467" cy="2696998"/>
            <a:chOff x="0" y="0"/>
            <a:chExt cx="1453825" cy="12662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53826" cy="1266270"/>
            </a:xfrm>
            <a:custGeom>
              <a:avLst/>
              <a:gdLst/>
              <a:ahLst/>
              <a:cxnLst/>
              <a:rect r="r" b="b" t="t" l="l"/>
              <a:pathLst>
                <a:path h="1266270" w="1453826">
                  <a:moveTo>
                    <a:pt x="1329365" y="1266270"/>
                  </a:moveTo>
                  <a:lnTo>
                    <a:pt x="124460" y="1266270"/>
                  </a:lnTo>
                  <a:cubicBezTo>
                    <a:pt x="55880" y="1266270"/>
                    <a:pt x="0" y="1210390"/>
                    <a:pt x="0" y="11418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29366" y="0"/>
                  </a:lnTo>
                  <a:cubicBezTo>
                    <a:pt x="1397945" y="0"/>
                    <a:pt x="1453826" y="55880"/>
                    <a:pt x="1453826" y="124460"/>
                  </a:cubicBezTo>
                  <a:lnTo>
                    <a:pt x="1453826" y="1141810"/>
                  </a:lnTo>
                  <a:cubicBezTo>
                    <a:pt x="1453826" y="1210390"/>
                    <a:pt x="1397945" y="1266270"/>
                    <a:pt x="1329366" y="1266270"/>
                  </a:cubicBezTo>
                  <a:close/>
                </a:path>
              </a:pathLst>
            </a:custGeom>
            <a:solidFill>
              <a:srgbClr val="FF27C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307898" y="4707085"/>
            <a:ext cx="2435681" cy="243568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425" r="0" b="-16425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5796146"/>
            <a:ext cx="3096467" cy="2696998"/>
            <a:chOff x="0" y="0"/>
            <a:chExt cx="1453825" cy="12662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53826" cy="1266270"/>
            </a:xfrm>
            <a:custGeom>
              <a:avLst/>
              <a:gdLst/>
              <a:ahLst/>
              <a:cxnLst/>
              <a:rect r="r" b="b" t="t" l="l"/>
              <a:pathLst>
                <a:path h="1266270" w="1453826">
                  <a:moveTo>
                    <a:pt x="1329365" y="1266270"/>
                  </a:moveTo>
                  <a:lnTo>
                    <a:pt x="124460" y="1266270"/>
                  </a:lnTo>
                  <a:cubicBezTo>
                    <a:pt x="55880" y="1266270"/>
                    <a:pt x="0" y="1210390"/>
                    <a:pt x="0" y="11418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29366" y="0"/>
                  </a:lnTo>
                  <a:cubicBezTo>
                    <a:pt x="1397945" y="0"/>
                    <a:pt x="1453826" y="55880"/>
                    <a:pt x="1453826" y="124460"/>
                  </a:cubicBezTo>
                  <a:lnTo>
                    <a:pt x="1453826" y="1141810"/>
                  </a:lnTo>
                  <a:cubicBezTo>
                    <a:pt x="1453826" y="1210390"/>
                    <a:pt x="1397945" y="1266270"/>
                    <a:pt x="1329366" y="1266270"/>
                  </a:cubicBezTo>
                  <a:close/>
                </a:path>
              </a:pathLst>
            </a:custGeom>
            <a:solidFill>
              <a:srgbClr val="FF27C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59093" y="4663453"/>
            <a:ext cx="2435681" cy="243568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2202" r="0" b="-22202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42611" y="7278863"/>
            <a:ext cx="2868646" cy="38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b="true" sz="25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 JAVIR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43862" y="1056891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80058" y="1077709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83307" y="1042878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89673" y="8724265"/>
            <a:ext cx="165158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 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22107" y="8724265"/>
            <a:ext cx="4171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1108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56711" y="5385833"/>
            <a:ext cx="2868646" cy="38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b="true" sz="25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PRANTO DEV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042800" y="5881294"/>
            <a:ext cx="3096467" cy="2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sz="16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Supervisor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2670" y="659238"/>
            <a:ext cx="6307336" cy="124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26"/>
              </a:lnSpc>
            </a:pPr>
            <a:r>
              <a:rPr lang="en-US" b="true" sz="82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MEET THE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93433" y="659238"/>
            <a:ext cx="3848033" cy="124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26"/>
              </a:lnSpc>
            </a:pPr>
            <a:r>
              <a:rPr lang="en-US" sz="82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70644" y="5385833"/>
            <a:ext cx="2868646" cy="38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b="true" sz="25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ARKO SIKDER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56733" y="5881294"/>
            <a:ext cx="3096467" cy="2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sz="16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Co-Supervisor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091415" y="7278863"/>
            <a:ext cx="2868646" cy="33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b="true" sz="213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RADOAN RAHMAN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977505" y="7774324"/>
            <a:ext cx="3096467" cy="2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sz="16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7774324"/>
            <a:ext cx="3096467" cy="2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sz="16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586779" y="8929688"/>
            <a:ext cx="2672521" cy="0"/>
          </a:xfrm>
          <a:prstGeom prst="line">
            <a:avLst/>
          </a:prstGeom>
          <a:ln cap="rnd" w="657225">
            <a:solidFill>
              <a:srgbClr val="FF27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697186" y="8696186"/>
            <a:ext cx="467003" cy="467003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9220790" cy="3580557"/>
            <a:chOff x="0" y="0"/>
            <a:chExt cx="2428494" cy="943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8494" cy="943085"/>
            </a:xfrm>
            <a:custGeom>
              <a:avLst/>
              <a:gdLst/>
              <a:ahLst/>
              <a:cxnLst/>
              <a:rect r="r" b="b" t="t" l="l"/>
              <a:pathLst>
                <a:path h="943085" w="2428494">
                  <a:moveTo>
                    <a:pt x="2428494" y="0"/>
                  </a:moveTo>
                  <a:lnTo>
                    <a:pt x="2428494" y="943085"/>
                  </a:lnTo>
                  <a:lnTo>
                    <a:pt x="0" y="94308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428494" cy="990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7546" y="1023370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83307" y="1042878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444538"/>
            <a:ext cx="8192090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b="true" sz="6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89673" y="8724265"/>
            <a:ext cx="165158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 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22107" y="8724265"/>
            <a:ext cx="4171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1108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184996" y="8299149"/>
            <a:ext cx="9323926" cy="932392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3590082"/>
            <a:ext cx="17259300" cy="683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Problem: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Univ</a:t>
            </a: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ersity systems are outdated, fragmented, and lack real-time updates. Students and faculty struggle with scattered information (SIMS, paper routines, email notices), causing delays and confusion.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centralized, dynamic Academic Panel mobile app that integrates schedules, exam routines, results, tuition info, announcements, and faculty data — all in one real-time dashboard.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</a:t>
            </a:r>
            <a:r>
              <a:rPr lang="en-US" b="true" sz="2599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 accounts (Student &amp; Faculty)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 schedules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Announcements &amp; reminders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Academic progress &amp; results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Show </a:t>
            </a: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Payment &amp; accounts information </a:t>
            </a:r>
          </a:p>
          <a:p>
            <a:pPr algn="l" marL="1122678" indent="-374226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Lost and Found  &amp; Events section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586779" y="8929688"/>
            <a:ext cx="2672521" cy="0"/>
          </a:xfrm>
          <a:prstGeom prst="line">
            <a:avLst/>
          </a:prstGeom>
          <a:ln cap="rnd" w="657225">
            <a:solidFill>
              <a:srgbClr val="FF27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697186" y="8696186"/>
            <a:ext cx="467003" cy="467003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9220790" cy="3580557"/>
            <a:chOff x="0" y="0"/>
            <a:chExt cx="2428494" cy="943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8494" cy="943085"/>
            </a:xfrm>
            <a:custGeom>
              <a:avLst/>
              <a:gdLst/>
              <a:ahLst/>
              <a:cxnLst/>
              <a:rect r="r" b="b" t="t" l="l"/>
              <a:pathLst>
                <a:path h="943085" w="2428494">
                  <a:moveTo>
                    <a:pt x="2428494" y="0"/>
                  </a:moveTo>
                  <a:lnTo>
                    <a:pt x="2428494" y="943085"/>
                  </a:lnTo>
                  <a:lnTo>
                    <a:pt x="0" y="943085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428494" cy="990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74773" y="8642049"/>
            <a:ext cx="9323926" cy="93239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46369" y="4079717"/>
            <a:ext cx="3844013" cy="4180276"/>
            <a:chOff x="0" y="0"/>
            <a:chExt cx="1012415" cy="1100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2415" cy="1100978"/>
            </a:xfrm>
            <a:custGeom>
              <a:avLst/>
              <a:gdLst/>
              <a:ahLst/>
              <a:cxnLst/>
              <a:rect r="r" b="b" t="t" l="l"/>
              <a:pathLst>
                <a:path h="1100978" w="1012415">
                  <a:moveTo>
                    <a:pt x="102715" y="0"/>
                  </a:moveTo>
                  <a:lnTo>
                    <a:pt x="909700" y="0"/>
                  </a:lnTo>
                  <a:cubicBezTo>
                    <a:pt x="966428" y="0"/>
                    <a:pt x="1012415" y="45987"/>
                    <a:pt x="1012415" y="102715"/>
                  </a:cubicBezTo>
                  <a:lnTo>
                    <a:pt x="1012415" y="998263"/>
                  </a:lnTo>
                  <a:cubicBezTo>
                    <a:pt x="1012415" y="1025505"/>
                    <a:pt x="1001593" y="1051631"/>
                    <a:pt x="982330" y="1070893"/>
                  </a:cubicBezTo>
                  <a:cubicBezTo>
                    <a:pt x="963068" y="1090156"/>
                    <a:pt x="936942" y="1100978"/>
                    <a:pt x="909700" y="1100978"/>
                  </a:cubicBezTo>
                  <a:lnTo>
                    <a:pt x="102715" y="1100978"/>
                  </a:lnTo>
                  <a:cubicBezTo>
                    <a:pt x="75473" y="1100978"/>
                    <a:pt x="49347" y="1090156"/>
                    <a:pt x="30085" y="1070893"/>
                  </a:cubicBezTo>
                  <a:cubicBezTo>
                    <a:pt x="10822" y="1051631"/>
                    <a:pt x="0" y="1025505"/>
                    <a:pt x="0" y="998263"/>
                  </a:cubicBezTo>
                  <a:lnTo>
                    <a:pt x="0" y="102715"/>
                  </a:lnTo>
                  <a:cubicBezTo>
                    <a:pt x="0" y="75473"/>
                    <a:pt x="10822" y="49347"/>
                    <a:pt x="30085" y="30085"/>
                  </a:cubicBezTo>
                  <a:cubicBezTo>
                    <a:pt x="49347" y="10822"/>
                    <a:pt x="75473" y="0"/>
                    <a:pt x="1027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2415" cy="113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979727" y="4425595"/>
            <a:ext cx="1628919" cy="1628919"/>
          </a:xfrm>
          <a:custGeom>
            <a:avLst/>
            <a:gdLst/>
            <a:ahLst/>
            <a:cxnLst/>
            <a:rect r="r" b="b" t="t" l="l"/>
            <a:pathLst>
              <a:path h="1628919" w="1628919">
                <a:moveTo>
                  <a:pt x="0" y="0"/>
                </a:moveTo>
                <a:lnTo>
                  <a:pt x="1628919" y="0"/>
                </a:lnTo>
                <a:lnTo>
                  <a:pt x="1628919" y="1628919"/>
                </a:lnTo>
                <a:lnTo>
                  <a:pt x="0" y="1628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96882" y="4118873"/>
            <a:ext cx="3844013" cy="4180276"/>
            <a:chOff x="0" y="0"/>
            <a:chExt cx="1012415" cy="1100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2415" cy="1100978"/>
            </a:xfrm>
            <a:custGeom>
              <a:avLst/>
              <a:gdLst/>
              <a:ahLst/>
              <a:cxnLst/>
              <a:rect r="r" b="b" t="t" l="l"/>
              <a:pathLst>
                <a:path h="1100978" w="1012415">
                  <a:moveTo>
                    <a:pt x="102715" y="0"/>
                  </a:moveTo>
                  <a:lnTo>
                    <a:pt x="909700" y="0"/>
                  </a:lnTo>
                  <a:cubicBezTo>
                    <a:pt x="966428" y="0"/>
                    <a:pt x="1012415" y="45987"/>
                    <a:pt x="1012415" y="102715"/>
                  </a:cubicBezTo>
                  <a:lnTo>
                    <a:pt x="1012415" y="998263"/>
                  </a:lnTo>
                  <a:cubicBezTo>
                    <a:pt x="1012415" y="1025505"/>
                    <a:pt x="1001593" y="1051631"/>
                    <a:pt x="982330" y="1070893"/>
                  </a:cubicBezTo>
                  <a:cubicBezTo>
                    <a:pt x="963068" y="1090156"/>
                    <a:pt x="936942" y="1100978"/>
                    <a:pt x="909700" y="1100978"/>
                  </a:cubicBezTo>
                  <a:lnTo>
                    <a:pt x="102715" y="1100978"/>
                  </a:lnTo>
                  <a:cubicBezTo>
                    <a:pt x="75473" y="1100978"/>
                    <a:pt x="49347" y="1090156"/>
                    <a:pt x="30085" y="1070893"/>
                  </a:cubicBezTo>
                  <a:cubicBezTo>
                    <a:pt x="10822" y="1051631"/>
                    <a:pt x="0" y="1025505"/>
                    <a:pt x="0" y="998263"/>
                  </a:cubicBezTo>
                  <a:lnTo>
                    <a:pt x="0" y="102715"/>
                  </a:lnTo>
                  <a:cubicBezTo>
                    <a:pt x="0" y="75473"/>
                    <a:pt x="10822" y="49347"/>
                    <a:pt x="30085" y="30085"/>
                  </a:cubicBezTo>
                  <a:cubicBezTo>
                    <a:pt x="49347" y="10822"/>
                    <a:pt x="75473" y="0"/>
                    <a:pt x="1027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2415" cy="113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589088" y="4425595"/>
            <a:ext cx="1859601" cy="1859601"/>
          </a:xfrm>
          <a:custGeom>
            <a:avLst/>
            <a:gdLst/>
            <a:ahLst/>
            <a:cxnLst/>
            <a:rect r="r" b="b" t="t" l="l"/>
            <a:pathLst>
              <a:path h="1859601" w="1859601">
                <a:moveTo>
                  <a:pt x="0" y="0"/>
                </a:moveTo>
                <a:lnTo>
                  <a:pt x="1859601" y="0"/>
                </a:lnTo>
                <a:lnTo>
                  <a:pt x="1859601" y="1859602"/>
                </a:lnTo>
                <a:lnTo>
                  <a:pt x="0" y="1859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638232" y="4079717"/>
            <a:ext cx="3844013" cy="4180276"/>
            <a:chOff x="0" y="0"/>
            <a:chExt cx="1012415" cy="11009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2415" cy="1100978"/>
            </a:xfrm>
            <a:custGeom>
              <a:avLst/>
              <a:gdLst/>
              <a:ahLst/>
              <a:cxnLst/>
              <a:rect r="r" b="b" t="t" l="l"/>
              <a:pathLst>
                <a:path h="1100978" w="1012415">
                  <a:moveTo>
                    <a:pt x="102715" y="0"/>
                  </a:moveTo>
                  <a:lnTo>
                    <a:pt x="909700" y="0"/>
                  </a:lnTo>
                  <a:cubicBezTo>
                    <a:pt x="966428" y="0"/>
                    <a:pt x="1012415" y="45987"/>
                    <a:pt x="1012415" y="102715"/>
                  </a:cubicBezTo>
                  <a:lnTo>
                    <a:pt x="1012415" y="998263"/>
                  </a:lnTo>
                  <a:cubicBezTo>
                    <a:pt x="1012415" y="1025505"/>
                    <a:pt x="1001593" y="1051631"/>
                    <a:pt x="982330" y="1070893"/>
                  </a:cubicBezTo>
                  <a:cubicBezTo>
                    <a:pt x="963068" y="1090156"/>
                    <a:pt x="936942" y="1100978"/>
                    <a:pt x="909700" y="1100978"/>
                  </a:cubicBezTo>
                  <a:lnTo>
                    <a:pt x="102715" y="1100978"/>
                  </a:lnTo>
                  <a:cubicBezTo>
                    <a:pt x="75473" y="1100978"/>
                    <a:pt x="49347" y="1090156"/>
                    <a:pt x="30085" y="1070893"/>
                  </a:cubicBezTo>
                  <a:cubicBezTo>
                    <a:pt x="10822" y="1051631"/>
                    <a:pt x="0" y="1025505"/>
                    <a:pt x="0" y="998263"/>
                  </a:cubicBezTo>
                  <a:lnTo>
                    <a:pt x="0" y="102715"/>
                  </a:lnTo>
                  <a:cubicBezTo>
                    <a:pt x="0" y="75473"/>
                    <a:pt x="10822" y="49347"/>
                    <a:pt x="30085" y="30085"/>
                  </a:cubicBezTo>
                  <a:cubicBezTo>
                    <a:pt x="49347" y="10822"/>
                    <a:pt x="75473" y="0"/>
                    <a:pt x="1027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12415" cy="113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580787" y="4250110"/>
            <a:ext cx="1958901" cy="1958901"/>
          </a:xfrm>
          <a:custGeom>
            <a:avLst/>
            <a:gdLst/>
            <a:ahLst/>
            <a:cxnLst/>
            <a:rect r="r" b="b" t="t" l="l"/>
            <a:pathLst>
              <a:path h="1958901" w="1958901">
                <a:moveTo>
                  <a:pt x="0" y="0"/>
                </a:moveTo>
                <a:lnTo>
                  <a:pt x="1958902" y="0"/>
                </a:lnTo>
                <a:lnTo>
                  <a:pt x="1958902" y="1958901"/>
                </a:lnTo>
                <a:lnTo>
                  <a:pt x="0" y="1958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67546" y="1023370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83307" y="1042878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444538"/>
            <a:ext cx="8192090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b="true" sz="6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889673" y="8724265"/>
            <a:ext cx="165158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 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22107" y="8724265"/>
            <a:ext cx="4171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1108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74773" y="6467957"/>
            <a:ext cx="108823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</a:t>
            </a:r>
            <a:r>
              <a:rPr lang="en-US" b="true" sz="2599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gma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37885" y="7097242"/>
            <a:ext cx="316200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</a:t>
            </a: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reframes, UI design, prototypes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11450" y="6467957"/>
            <a:ext cx="116547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Flutter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46369" y="7097242"/>
            <a:ext cx="377988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</a:t>
            </a: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ross-platform mobile app development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56562" y="6272377"/>
            <a:ext cx="149453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27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FireBase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90607" y="6963892"/>
            <a:ext cx="3844013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ealtime Database Firestore,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586779" y="8929688"/>
            <a:ext cx="2672521" cy="0"/>
          </a:xfrm>
          <a:prstGeom prst="line">
            <a:avLst/>
          </a:prstGeom>
          <a:ln cap="rnd" w="657225">
            <a:solidFill>
              <a:srgbClr val="FF27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697186" y="8696186"/>
            <a:ext cx="467003" cy="467003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373" y="15730"/>
            <a:ext cx="9310504" cy="3224374"/>
            <a:chOff x="0" y="0"/>
            <a:chExt cx="2452149" cy="8492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52149" cy="849218"/>
            </a:xfrm>
            <a:custGeom>
              <a:avLst/>
              <a:gdLst/>
              <a:ahLst/>
              <a:cxnLst/>
              <a:rect r="r" b="b" t="t" l="l"/>
              <a:pathLst>
                <a:path h="849218" w="2452149">
                  <a:moveTo>
                    <a:pt x="0" y="0"/>
                  </a:moveTo>
                  <a:lnTo>
                    <a:pt x="2452149" y="0"/>
                  </a:lnTo>
                  <a:lnTo>
                    <a:pt x="2452149" y="849218"/>
                  </a:lnTo>
                  <a:lnTo>
                    <a:pt x="0" y="849218"/>
                  </a:ln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452149" cy="896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7546" y="1023370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83307" y="1042878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428" y="838007"/>
            <a:ext cx="8907701" cy="185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b="true" sz="6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 PROGRESS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89673" y="8724265"/>
            <a:ext cx="165158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 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22107" y="8724265"/>
            <a:ext cx="4171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1108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4179810" y="7578305"/>
            <a:ext cx="9323926" cy="932392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51143" y="4065065"/>
            <a:ext cx="14790111" cy="302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Design (Figma):</a:t>
            </a:r>
            <a:r>
              <a:rPr lang="en-US" b="true" sz="3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Interactive prototypes for core system pages.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Design (UML):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Two modeling approaches – Class Diagram &amp; Use Case Diagram.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ensures both the front-end user experience and the back-end structure are well aligned.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11028" y="888522"/>
            <a:ext cx="8907701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REGISTRATION PAGE (CREATE ACCOUNT)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7300" y="4150998"/>
            <a:ext cx="9589611" cy="433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b="true" sz="2599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Purpose:</a:t>
            </a: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Allows a new user (Student or Faculty) to create an account in the system.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b="true" sz="2599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Features:</a:t>
            </a:r>
          </a:p>
          <a:p>
            <a:pPr algn="l" marL="1122678" indent="-374226" lvl="2">
              <a:lnSpc>
                <a:spcPts val="389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Enter Full Name</a:t>
            </a:r>
          </a:p>
          <a:p>
            <a:pPr algn="l" marL="1122678" indent="-374226" lvl="2">
              <a:lnSpc>
                <a:spcPts val="389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Enter Email (University email required)</a:t>
            </a:r>
          </a:p>
          <a:p>
            <a:pPr algn="l" marL="1122678" indent="-374226" lvl="2">
              <a:lnSpc>
                <a:spcPts val="389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Password</a:t>
            </a:r>
          </a:p>
          <a:p>
            <a:pPr algn="l" marL="1122678" indent="-374226" lvl="2">
              <a:lnSpc>
                <a:spcPts val="3899"/>
              </a:lnSpc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Choose Role → Student or Faculty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b="true" sz="2599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important:</a:t>
            </a: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This page ensures only verified users become part of the academic community.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328082" y="2235915"/>
            <a:ext cx="3435849" cy="6861738"/>
          </a:xfrm>
          <a:custGeom>
            <a:avLst/>
            <a:gdLst/>
            <a:ahLst/>
            <a:cxnLst/>
            <a:rect r="r" b="b" t="t" l="l"/>
            <a:pathLst>
              <a:path h="6861738" w="3435849">
                <a:moveTo>
                  <a:pt x="0" y="0"/>
                </a:moveTo>
                <a:lnTo>
                  <a:pt x="3435849" y="0"/>
                </a:lnTo>
                <a:lnTo>
                  <a:pt x="3435849" y="6861738"/>
                </a:lnTo>
                <a:lnTo>
                  <a:pt x="0" y="686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74" r="0" b="-527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16885" y="2197815"/>
            <a:ext cx="2791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Design (Figma)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05289" y="9220200"/>
            <a:ext cx="208143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 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11028" y="1091465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LOGIN PAGE (SIGN-IN)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028" y="1853286"/>
            <a:ext cx="2791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Design (Figma)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0196" y="4463690"/>
            <a:ext cx="9964690" cy="336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Purpose:</a:t>
            </a: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Gives registered users access to the system.</a:t>
            </a:r>
          </a:p>
          <a:p>
            <a:pPr algn="l">
              <a:lnSpc>
                <a:spcPts val="3899"/>
              </a:lnSpc>
            </a:pPr>
            <a:r>
              <a:rPr lang="en-US" b="true" sz="2599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Features: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Enter Email &amp; Password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“Sign-In” button to authenticate and open the dashboard</a:t>
            </a:r>
          </a:p>
          <a:p>
            <a:pPr algn="l">
              <a:lnSpc>
                <a:spcPts val="3899"/>
              </a:lnSpc>
            </a:pPr>
            <a:r>
              <a:rPr lang="en-US" b="true" sz="2599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important: </a:t>
            </a: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Provides secure access and protects user data.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982376" y="2274145"/>
            <a:ext cx="3422691" cy="6813744"/>
          </a:xfrm>
          <a:custGeom>
            <a:avLst/>
            <a:gdLst/>
            <a:ahLst/>
            <a:cxnLst/>
            <a:rect r="r" b="b" t="t" l="l"/>
            <a:pathLst>
              <a:path h="6813744" w="3422691">
                <a:moveTo>
                  <a:pt x="0" y="0"/>
                </a:moveTo>
                <a:lnTo>
                  <a:pt x="3422691" y="0"/>
                </a:lnTo>
                <a:lnTo>
                  <a:pt x="3422691" y="6813744"/>
                </a:lnTo>
                <a:lnTo>
                  <a:pt x="0" y="6813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40" r="0" b="-4759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715845" y="9220200"/>
            <a:ext cx="208143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 In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16885" y="1243830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/ HOME PAGE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6885" y="2006286"/>
            <a:ext cx="2791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Design (Figma)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188705"/>
            <a:ext cx="9953599" cy="49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Purpose: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Central hub for all important updates and quick navigation.</a:t>
            </a:r>
          </a:p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Features: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Welcome message with Student details (Name, ID, Semester)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Announcements (e.g., class cancellations, quiz dates)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Reminders (deadlines, payments, events)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Events section (upcoming university activities)</a:t>
            </a:r>
          </a:p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important: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Keeps users informed about academics and campus life at a glance.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206168" y="3511220"/>
            <a:ext cx="2951291" cy="5123845"/>
          </a:xfrm>
          <a:custGeom>
            <a:avLst/>
            <a:gdLst/>
            <a:ahLst/>
            <a:cxnLst/>
            <a:rect r="r" b="b" t="t" l="l"/>
            <a:pathLst>
              <a:path h="5123845" w="2951291">
                <a:moveTo>
                  <a:pt x="0" y="0"/>
                </a:moveTo>
                <a:lnTo>
                  <a:pt x="2951291" y="0"/>
                </a:lnTo>
                <a:lnTo>
                  <a:pt x="2951291" y="5123845"/>
                </a:lnTo>
                <a:lnTo>
                  <a:pt x="0" y="5123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389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737459" y="3511220"/>
            <a:ext cx="2811992" cy="5123845"/>
          </a:xfrm>
          <a:custGeom>
            <a:avLst/>
            <a:gdLst/>
            <a:ahLst/>
            <a:cxnLst/>
            <a:rect r="r" b="b" t="t" l="l"/>
            <a:pathLst>
              <a:path h="5123845" w="2811992">
                <a:moveTo>
                  <a:pt x="0" y="0"/>
                </a:moveTo>
                <a:lnTo>
                  <a:pt x="2811992" y="0"/>
                </a:lnTo>
                <a:lnTo>
                  <a:pt x="2811992" y="5123845"/>
                </a:lnTo>
                <a:lnTo>
                  <a:pt x="0" y="5123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267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907306" y="9049789"/>
            <a:ext cx="4713968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 page ( vertical Scrollable)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11028" y="1091465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SCHEDULE PAGE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028" y="1785292"/>
            <a:ext cx="2791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Design (Figma)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6119" y="3625240"/>
            <a:ext cx="9023429" cy="592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Purpose: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Displays daily, weekly, and monthly class, Exam and Assignment schedules and available room in that period.</a:t>
            </a:r>
          </a:p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Features: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Class timing and Course details (Course code, name, teacher, room)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Calendar layout (Monthly &amp; Weekly views)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Highlights for Upcoming &amp; Ongoing classes, exam and assignment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available room</a:t>
            </a:r>
          </a:p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important: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Helps students and faculty manage time effectively.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349223" y="2184717"/>
            <a:ext cx="2587536" cy="6903172"/>
          </a:xfrm>
          <a:custGeom>
            <a:avLst/>
            <a:gdLst/>
            <a:ahLst/>
            <a:cxnLst/>
            <a:rect r="r" b="b" t="t" l="l"/>
            <a:pathLst>
              <a:path h="6903172" w="2587536">
                <a:moveTo>
                  <a:pt x="0" y="0"/>
                </a:moveTo>
                <a:lnTo>
                  <a:pt x="2587536" y="0"/>
                </a:lnTo>
                <a:lnTo>
                  <a:pt x="2587536" y="6903172"/>
                </a:lnTo>
                <a:lnTo>
                  <a:pt x="0" y="6903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399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491844" y="2184717"/>
            <a:ext cx="2543735" cy="6903172"/>
          </a:xfrm>
          <a:custGeom>
            <a:avLst/>
            <a:gdLst/>
            <a:ahLst/>
            <a:cxnLst/>
            <a:rect r="r" b="b" t="t" l="l"/>
            <a:pathLst>
              <a:path h="6903172" w="2543735">
                <a:moveTo>
                  <a:pt x="0" y="0"/>
                </a:moveTo>
                <a:lnTo>
                  <a:pt x="2543735" y="0"/>
                </a:lnTo>
                <a:lnTo>
                  <a:pt x="2543735" y="6903172"/>
                </a:lnTo>
                <a:lnTo>
                  <a:pt x="0" y="6903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9873" r="0" b="-66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698747" y="9345028"/>
            <a:ext cx="514122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schedule page ( vertical Scrollable)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11028" y="1091465"/>
            <a:ext cx="8907701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ACADEMICS AND ACCOUNTS PAGE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028" y="2360667"/>
            <a:ext cx="2791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Design (Figma)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7992" y="3653815"/>
            <a:ext cx="8858528" cy="645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Purpose: 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Shows course grades and overall CGP and Manages tuition fees.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Features: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Course-wise results (Assignments, Quizzes, Exams)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GPA calculation and progress tracking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Comparison of past vs current semester performance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Tuition fees breakdown (Total, Paid, Due)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Payment history (e.g., Bkash payments, dates)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Late fee alerts (+500 Tk if overdue)</a:t>
            </a:r>
          </a:p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important: 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Motivates students by showing improvements and tracking progress.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790382" y="3325680"/>
            <a:ext cx="3044751" cy="5607117"/>
          </a:xfrm>
          <a:custGeom>
            <a:avLst/>
            <a:gdLst/>
            <a:ahLst/>
            <a:cxnLst/>
            <a:rect r="r" b="b" t="t" l="l"/>
            <a:pathLst>
              <a:path h="5607117" w="3044751">
                <a:moveTo>
                  <a:pt x="0" y="0"/>
                </a:moveTo>
                <a:lnTo>
                  <a:pt x="3044750" y="0"/>
                </a:lnTo>
                <a:lnTo>
                  <a:pt x="3044750" y="5607117"/>
                </a:lnTo>
                <a:lnTo>
                  <a:pt x="0" y="5607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205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263910" y="3325680"/>
            <a:ext cx="2969775" cy="5607117"/>
          </a:xfrm>
          <a:custGeom>
            <a:avLst/>
            <a:gdLst/>
            <a:ahLst/>
            <a:cxnLst/>
            <a:rect r="r" b="b" t="t" l="l"/>
            <a:pathLst>
              <a:path h="5607117" w="2969775">
                <a:moveTo>
                  <a:pt x="0" y="0"/>
                </a:moveTo>
                <a:lnTo>
                  <a:pt x="2969775" y="0"/>
                </a:lnTo>
                <a:lnTo>
                  <a:pt x="2969775" y="5607117"/>
                </a:lnTo>
                <a:lnTo>
                  <a:pt x="0" y="5607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076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528634" y="9220200"/>
            <a:ext cx="52968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Academic page ( vertical Scrollable)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297212" y="-892785"/>
            <a:ext cx="11815941" cy="3667157"/>
            <a:chOff x="0" y="0"/>
            <a:chExt cx="3112017" cy="9658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2017" cy="965836"/>
            </a:xfrm>
            <a:custGeom>
              <a:avLst/>
              <a:gdLst/>
              <a:ahLst/>
              <a:cxnLst/>
              <a:rect r="r" b="b" t="t" l="l"/>
              <a:pathLst>
                <a:path h="96583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932420"/>
                  </a:lnTo>
                  <a:cubicBezTo>
                    <a:pt x="3112017" y="950875"/>
                    <a:pt x="3097057" y="965836"/>
                    <a:pt x="3078602" y="965836"/>
                  </a:cubicBezTo>
                  <a:lnTo>
                    <a:pt x="33416" y="965836"/>
                  </a:lnTo>
                  <a:cubicBezTo>
                    <a:pt x="14961" y="965836"/>
                    <a:pt x="0" y="950875"/>
                    <a:pt x="0" y="932420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112017" cy="1013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005603" y="2217661"/>
            <a:ext cx="6303712" cy="7710963"/>
          </a:xfrm>
          <a:custGeom>
            <a:avLst/>
            <a:gdLst/>
            <a:ahLst/>
            <a:cxnLst/>
            <a:rect r="r" b="b" t="t" l="l"/>
            <a:pathLst>
              <a:path h="7710963" w="6303712">
                <a:moveTo>
                  <a:pt x="0" y="0"/>
                </a:moveTo>
                <a:lnTo>
                  <a:pt x="6303712" y="0"/>
                </a:lnTo>
                <a:lnTo>
                  <a:pt x="6303712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028" y="774282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UML CLASS DIAGRAM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978" y="1502292"/>
            <a:ext cx="2791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Design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091" y="2474605"/>
            <a:ext cx="7437909" cy="781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Basic student info (ID, name, contact, DOB, gender, department).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Faculty: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Faculty details (name, designation, email, department).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Department: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Academic unit that manages students, faculty, courses, and current semester.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Course: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 details (code, name, credit hours) under a department.</a:t>
            </a:r>
          </a:p>
          <a:p>
            <a:pPr algn="l" marL="369516" indent="-184758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Section: </a:t>
            </a:r>
            <a:r>
              <a:rPr lang="en-US" sz="17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Specific offering of a course in a semester (faculty, schedule, room).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AssessmentType: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Defines evaluation types (quiz, midterm, final, assignment) with date, room, max marks, syllabus.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Assessment: Connects assessment types to sections,</a:t>
            </a: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defining which assessments are used in a section.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Stores a student's marks for each assessment in a section.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CourseResult: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Final summary of a student’s performance in a section (total marks, grade, GPA).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Accounts: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Financial record for each student (tuition, dues, waiver, balance, payment status).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Installment: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Tracks installment-based payments (amount, due date, status).</a:t>
            </a:r>
          </a:p>
          <a:p>
            <a:pPr algn="l" marL="388701" indent="-19435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PaymentHistory: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Logs each payment made by a student (date, amount, method).</a:t>
            </a:r>
          </a:p>
        </p:txBody>
      </p:sp>
      <p:sp>
        <p:nvSpPr>
          <p:cNvPr name="TextBox 19" id="19"/>
          <p:cNvSpPr txBox="true"/>
          <p:nvPr/>
        </p:nvSpPr>
        <p:spPr>
          <a:xfrm rot="-5400000">
            <a:off x="302832" y="6087072"/>
            <a:ext cx="140411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Entity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297212" y="-892785"/>
            <a:ext cx="11815941" cy="3667157"/>
            <a:chOff x="0" y="0"/>
            <a:chExt cx="3112017" cy="9658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2017" cy="965836"/>
            </a:xfrm>
            <a:custGeom>
              <a:avLst/>
              <a:gdLst/>
              <a:ahLst/>
              <a:cxnLst/>
              <a:rect r="r" b="b" t="t" l="l"/>
              <a:pathLst>
                <a:path h="96583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932420"/>
                  </a:lnTo>
                  <a:cubicBezTo>
                    <a:pt x="3112017" y="950875"/>
                    <a:pt x="3097057" y="965836"/>
                    <a:pt x="3078602" y="965836"/>
                  </a:cubicBezTo>
                  <a:lnTo>
                    <a:pt x="33416" y="965836"/>
                  </a:lnTo>
                  <a:cubicBezTo>
                    <a:pt x="14961" y="965836"/>
                    <a:pt x="0" y="950875"/>
                    <a:pt x="0" y="932420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112017" cy="1013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227647" y="2217661"/>
            <a:ext cx="6303712" cy="7710963"/>
          </a:xfrm>
          <a:custGeom>
            <a:avLst/>
            <a:gdLst/>
            <a:ahLst/>
            <a:cxnLst/>
            <a:rect r="r" b="b" t="t" l="l"/>
            <a:pathLst>
              <a:path h="7710963" w="6303712">
                <a:moveTo>
                  <a:pt x="0" y="0"/>
                </a:moveTo>
                <a:lnTo>
                  <a:pt x="6303712" y="0"/>
                </a:lnTo>
                <a:lnTo>
                  <a:pt x="6303712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028" y="774282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UML CLASS DIAGRAM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978" y="1502292"/>
            <a:ext cx="2791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Design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091" y="3818855"/>
            <a:ext cx="7437909" cy="562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depar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many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student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nd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rse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ong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one department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ha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ultipl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se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ctio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faculty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member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ltipl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se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ude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 enro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m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tip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nd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cei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ults.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AssessmentType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efines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dard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iz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 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sse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ssment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Assessment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a section wi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assessment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typ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tores marks for each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student per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assessment.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CourseResult summar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izes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student performance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section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Each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uden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ccount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431880" indent="-21594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ccount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ain mu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ip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 installments, 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ach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payment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ry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-5400000">
            <a:off x="-655794" y="5853750"/>
            <a:ext cx="315156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Relationship 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11978" y="1785292"/>
            <a:ext cx="2791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Design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028" y="1091465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UML CASE DIAGRAM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367593" y="2149095"/>
            <a:ext cx="3737980" cy="7731324"/>
          </a:xfrm>
          <a:custGeom>
            <a:avLst/>
            <a:gdLst/>
            <a:ahLst/>
            <a:cxnLst/>
            <a:rect r="r" b="b" t="t" l="l"/>
            <a:pathLst>
              <a:path h="7731324" w="3737980">
                <a:moveTo>
                  <a:pt x="0" y="0"/>
                </a:moveTo>
                <a:lnTo>
                  <a:pt x="3737980" y="0"/>
                </a:lnTo>
                <a:lnTo>
                  <a:pt x="3737980" y="7731324"/>
                </a:lnTo>
                <a:lnTo>
                  <a:pt x="0" y="7731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06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78159" y="3460493"/>
            <a:ext cx="10182820" cy="629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Use Cases: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Login &amp; View Profile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Schedule (class + exam routine)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Attendance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Results (quiz, mid, assignment, final – current + previous semesters)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Calculate CGPA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Tuition Info (fees + installment dates)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Faculty Info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Check Available Rooms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faculty info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56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Faculty Use Cases:</a:t>
            </a:r>
          </a:p>
          <a:p>
            <a:pPr algn="l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Login &amp; View Profile</a:t>
            </a:r>
          </a:p>
          <a:p>
            <a:pPr algn="l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and Reschedule Schedules</a:t>
            </a:r>
          </a:p>
          <a:p>
            <a:pPr algn="l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Attendance</a:t>
            </a:r>
          </a:p>
          <a:p>
            <a:pPr algn="l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Assign Results for mid, quiz, assignment, and final</a:t>
            </a:r>
          </a:p>
          <a:p>
            <a:pPr algn="l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View Enrolled Students’ Profiles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89307" y="5482638"/>
            <a:ext cx="5253415" cy="2477586"/>
          </a:xfrm>
          <a:custGeom>
            <a:avLst/>
            <a:gdLst/>
            <a:ahLst/>
            <a:cxnLst/>
            <a:rect r="r" b="b" t="t" l="l"/>
            <a:pathLst>
              <a:path h="2477586" w="5253415">
                <a:moveTo>
                  <a:pt x="0" y="0"/>
                </a:moveTo>
                <a:lnTo>
                  <a:pt x="5253415" y="0"/>
                </a:lnTo>
                <a:lnTo>
                  <a:pt x="5253415" y="2477586"/>
                </a:lnTo>
                <a:lnTo>
                  <a:pt x="0" y="2477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839" t="-59242" r="-78286" b="-7156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67133" y="3972086"/>
            <a:ext cx="8404658" cy="2371703"/>
          </a:xfrm>
          <a:custGeom>
            <a:avLst/>
            <a:gdLst/>
            <a:ahLst/>
            <a:cxnLst/>
            <a:rect r="r" b="b" t="t" l="l"/>
            <a:pathLst>
              <a:path h="2371703" w="8404658">
                <a:moveTo>
                  <a:pt x="0" y="0"/>
                </a:moveTo>
                <a:lnTo>
                  <a:pt x="8404658" y="0"/>
                </a:lnTo>
                <a:lnTo>
                  <a:pt x="8404658" y="2371703"/>
                </a:lnTo>
                <a:lnTo>
                  <a:pt x="0" y="2371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018" t="-61540" r="-30086" b="-8314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67133" y="7629609"/>
            <a:ext cx="8505747" cy="1933873"/>
          </a:xfrm>
          <a:custGeom>
            <a:avLst/>
            <a:gdLst/>
            <a:ahLst/>
            <a:cxnLst/>
            <a:rect r="r" b="b" t="t" l="l"/>
            <a:pathLst>
              <a:path h="1933873" w="8505747">
                <a:moveTo>
                  <a:pt x="0" y="0"/>
                </a:moveTo>
                <a:lnTo>
                  <a:pt x="8505748" y="0"/>
                </a:lnTo>
                <a:lnTo>
                  <a:pt x="8505748" y="1933873"/>
                </a:lnTo>
                <a:lnTo>
                  <a:pt x="0" y="1933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439" t="-48239" r="-14726" b="-8627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1978" y="1785292"/>
            <a:ext cx="3074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028" y="1091465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FIREBASE REAL TIME DATABASE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37391" y="7046643"/>
            <a:ext cx="232006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Faculty 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09428" y="3305200"/>
            <a:ext cx="232006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08381" y="5272238"/>
            <a:ext cx="232006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Department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386311" y="6911728"/>
            <a:ext cx="10639918" cy="3249321"/>
          </a:xfrm>
          <a:custGeom>
            <a:avLst/>
            <a:gdLst/>
            <a:ahLst/>
            <a:cxnLst/>
            <a:rect r="r" b="b" t="t" l="l"/>
            <a:pathLst>
              <a:path h="3249321" w="10639918">
                <a:moveTo>
                  <a:pt x="0" y="0"/>
                </a:moveTo>
                <a:lnTo>
                  <a:pt x="10639919" y="0"/>
                </a:lnTo>
                <a:lnTo>
                  <a:pt x="10639919" y="3249321"/>
                </a:lnTo>
                <a:lnTo>
                  <a:pt x="0" y="3249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36" t="-40699" r="-11902" b="-1610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2606" y="3643474"/>
            <a:ext cx="10307776" cy="3268254"/>
          </a:xfrm>
          <a:custGeom>
            <a:avLst/>
            <a:gdLst/>
            <a:ahLst/>
            <a:cxnLst/>
            <a:rect r="r" b="b" t="t" l="l"/>
            <a:pathLst>
              <a:path h="3268254" w="10307776">
                <a:moveTo>
                  <a:pt x="0" y="0"/>
                </a:moveTo>
                <a:lnTo>
                  <a:pt x="10307776" y="0"/>
                </a:lnTo>
                <a:lnTo>
                  <a:pt x="10307776" y="3268254"/>
                </a:lnTo>
                <a:lnTo>
                  <a:pt x="0" y="3268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87" t="-40809" r="-14803" b="-5824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978" y="1785292"/>
            <a:ext cx="3074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028" y="1091465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FIREBASE REAL TIME DATABASE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02323" y="3500488"/>
            <a:ext cx="3868341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Accounts/paymentHistory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49468" y="6873628"/>
            <a:ext cx="3207990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Accounts/installment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505437" y="-1136133"/>
            <a:ext cx="11815941" cy="4360507"/>
            <a:chOff x="0" y="0"/>
            <a:chExt cx="3112017" cy="1148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2017" cy="1148446"/>
            </a:xfrm>
            <a:custGeom>
              <a:avLst/>
              <a:gdLst/>
              <a:ahLst/>
              <a:cxnLst/>
              <a:rect r="r" b="b" t="t" l="l"/>
              <a:pathLst>
                <a:path h="1148446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115031"/>
                  </a:lnTo>
                  <a:cubicBezTo>
                    <a:pt x="3112017" y="1133486"/>
                    <a:pt x="3097057" y="1148446"/>
                    <a:pt x="3078602" y="1148446"/>
                  </a:cubicBezTo>
                  <a:lnTo>
                    <a:pt x="33416" y="1148446"/>
                  </a:lnTo>
                  <a:cubicBezTo>
                    <a:pt x="14961" y="1148446"/>
                    <a:pt x="0" y="1133486"/>
                    <a:pt x="0" y="1115031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112017" cy="119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280726" y="6762360"/>
            <a:ext cx="10499934" cy="3348878"/>
          </a:xfrm>
          <a:custGeom>
            <a:avLst/>
            <a:gdLst/>
            <a:ahLst/>
            <a:cxnLst/>
            <a:rect r="r" b="b" t="t" l="l"/>
            <a:pathLst>
              <a:path h="3348878" w="10499934">
                <a:moveTo>
                  <a:pt x="0" y="0"/>
                </a:moveTo>
                <a:lnTo>
                  <a:pt x="10499934" y="0"/>
                </a:lnTo>
                <a:lnTo>
                  <a:pt x="10499934" y="3348878"/>
                </a:lnTo>
                <a:lnTo>
                  <a:pt x="0" y="334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29" t="-40791" r="-15627" b="-520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9427" y="4001127"/>
            <a:ext cx="8435385" cy="2761233"/>
          </a:xfrm>
          <a:custGeom>
            <a:avLst/>
            <a:gdLst/>
            <a:ahLst/>
            <a:cxnLst/>
            <a:rect r="r" b="b" t="t" l="l"/>
            <a:pathLst>
              <a:path h="2761233" w="8435385">
                <a:moveTo>
                  <a:pt x="0" y="0"/>
                </a:moveTo>
                <a:lnTo>
                  <a:pt x="8435385" y="0"/>
                </a:lnTo>
                <a:lnTo>
                  <a:pt x="8435385" y="2761233"/>
                </a:lnTo>
                <a:lnTo>
                  <a:pt x="0" y="2761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527" t="-60524" r="-30983" b="-8894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978" y="1785292"/>
            <a:ext cx="3074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028" y="1091465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FIREBASE REAL TIME DATABASE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02896" y="3663340"/>
            <a:ext cx="1008162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24379" y="6831772"/>
            <a:ext cx="201483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Course Result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7740" y="6073143"/>
            <a:ext cx="6029493" cy="6029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978883">
            <a:off x="15888451" y="-1076857"/>
            <a:ext cx="4035301" cy="40353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33425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505437" y="-1136133"/>
            <a:ext cx="11815941" cy="3924532"/>
            <a:chOff x="0" y="0"/>
            <a:chExt cx="3112017" cy="10336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2017" cy="1033622"/>
            </a:xfrm>
            <a:custGeom>
              <a:avLst/>
              <a:gdLst/>
              <a:ahLst/>
              <a:cxnLst/>
              <a:rect r="r" b="b" t="t" l="l"/>
              <a:pathLst>
                <a:path h="1033622" w="3112017">
                  <a:moveTo>
                    <a:pt x="33416" y="0"/>
                  </a:moveTo>
                  <a:lnTo>
                    <a:pt x="3078602" y="0"/>
                  </a:lnTo>
                  <a:cubicBezTo>
                    <a:pt x="3097057" y="0"/>
                    <a:pt x="3112017" y="14961"/>
                    <a:pt x="3112017" y="33416"/>
                  </a:cubicBezTo>
                  <a:lnTo>
                    <a:pt x="3112017" y="1000206"/>
                  </a:lnTo>
                  <a:cubicBezTo>
                    <a:pt x="3112017" y="1018661"/>
                    <a:pt x="3097057" y="1033622"/>
                    <a:pt x="3078602" y="1033622"/>
                  </a:cubicBezTo>
                  <a:lnTo>
                    <a:pt x="33416" y="1033622"/>
                  </a:lnTo>
                  <a:cubicBezTo>
                    <a:pt x="14961" y="1033622"/>
                    <a:pt x="0" y="1018661"/>
                    <a:pt x="0" y="1000206"/>
                  </a:cubicBezTo>
                  <a:lnTo>
                    <a:pt x="0" y="33416"/>
                  </a:lnTo>
                  <a:cubicBezTo>
                    <a:pt x="0" y="14961"/>
                    <a:pt x="14961" y="0"/>
                    <a:pt x="33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112017" cy="1081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2962263"/>
            <a:ext cx="11644765" cy="4362474"/>
          </a:xfrm>
          <a:custGeom>
            <a:avLst/>
            <a:gdLst/>
            <a:ahLst/>
            <a:cxnLst/>
            <a:rect r="r" b="b" t="t" l="l"/>
            <a:pathLst>
              <a:path h="4362474" w="11644765">
                <a:moveTo>
                  <a:pt x="0" y="0"/>
                </a:moveTo>
                <a:lnTo>
                  <a:pt x="11644765" y="0"/>
                </a:lnTo>
                <a:lnTo>
                  <a:pt x="11644765" y="4362474"/>
                </a:lnTo>
                <a:lnTo>
                  <a:pt x="0" y="436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59" t="-33400" r="-8361" b="-3864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27276" y="7195575"/>
            <a:ext cx="10060724" cy="2999887"/>
          </a:xfrm>
          <a:custGeom>
            <a:avLst/>
            <a:gdLst/>
            <a:ahLst/>
            <a:cxnLst/>
            <a:rect r="r" b="b" t="t" l="l"/>
            <a:pathLst>
              <a:path h="2999887" w="10060724">
                <a:moveTo>
                  <a:pt x="0" y="0"/>
                </a:moveTo>
                <a:lnTo>
                  <a:pt x="10060724" y="0"/>
                </a:lnTo>
                <a:lnTo>
                  <a:pt x="10060724" y="2999887"/>
                </a:lnTo>
                <a:lnTo>
                  <a:pt x="0" y="2999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644" t="-49412" r="-16611" b="-3584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16430" y="1044844"/>
            <a:ext cx="141135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978" y="1785292"/>
            <a:ext cx="3074506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028" y="1091465"/>
            <a:ext cx="890770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4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FIREBASE REAL TIME DATABASE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81441" y="3067508"/>
            <a:ext cx="268188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Assessment/result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44765" y="6960934"/>
            <a:ext cx="249882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Assessment/type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10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00544" y="2539205"/>
            <a:ext cx="8941519" cy="89415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F27C3">
                      <a:alpha val="100000"/>
                    </a:srgbClr>
                  </a:gs>
                  <a:gs pos="100000">
                    <a:srgbClr val="11084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586779" y="8929688"/>
            <a:ext cx="2672521" cy="0"/>
          </a:xfrm>
          <a:prstGeom prst="line">
            <a:avLst/>
          </a:prstGeom>
          <a:ln cap="rnd" w="657225">
            <a:solidFill>
              <a:srgbClr val="FF27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697186" y="8696186"/>
            <a:ext cx="467003" cy="467003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870623" y="8775028"/>
            <a:ext cx="2249595" cy="28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 To 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22107" y="8724265"/>
            <a:ext cx="4171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1108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38966" y="4424157"/>
            <a:ext cx="7813163" cy="143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438"/>
              </a:lnSpc>
            </a:pPr>
            <a:r>
              <a:rPr lang="en-US" b="true" sz="94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564400" y="9290041"/>
            <a:ext cx="11354781" cy="996959"/>
            <a:chOff x="0" y="0"/>
            <a:chExt cx="2990560" cy="2625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90560" cy="262574"/>
            </a:xfrm>
            <a:custGeom>
              <a:avLst/>
              <a:gdLst/>
              <a:ahLst/>
              <a:cxnLst/>
              <a:rect r="r" b="b" t="t" l="l"/>
              <a:pathLst>
                <a:path h="262574" w="2990560">
                  <a:moveTo>
                    <a:pt x="34773" y="0"/>
                  </a:moveTo>
                  <a:lnTo>
                    <a:pt x="2955787" y="0"/>
                  </a:lnTo>
                  <a:cubicBezTo>
                    <a:pt x="2974991" y="0"/>
                    <a:pt x="2990560" y="15568"/>
                    <a:pt x="2990560" y="34773"/>
                  </a:cubicBezTo>
                  <a:lnTo>
                    <a:pt x="2990560" y="227801"/>
                  </a:lnTo>
                  <a:cubicBezTo>
                    <a:pt x="2990560" y="247005"/>
                    <a:pt x="2974991" y="262574"/>
                    <a:pt x="2955787" y="262574"/>
                  </a:cubicBezTo>
                  <a:lnTo>
                    <a:pt x="34773" y="262574"/>
                  </a:lnTo>
                  <a:cubicBezTo>
                    <a:pt x="15568" y="262574"/>
                    <a:pt x="0" y="247005"/>
                    <a:pt x="0" y="227801"/>
                  </a:cubicBezTo>
                  <a:lnTo>
                    <a:pt x="0" y="34773"/>
                  </a:lnTo>
                  <a:cubicBezTo>
                    <a:pt x="0" y="15568"/>
                    <a:pt x="15568" y="0"/>
                    <a:pt x="347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27C3">
                    <a:alpha val="100000"/>
                  </a:srgbClr>
                </a:gs>
                <a:gs pos="100000">
                  <a:srgbClr val="11084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990560" cy="310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52129" y="1042878"/>
            <a:ext cx="1476505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2889" y="1044844"/>
            <a:ext cx="1693674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9462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65888" y="1044844"/>
            <a:ext cx="1975993" cy="36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7"/>
              </a:lnSpc>
              <a:spcBef>
                <a:spcPct val="0"/>
              </a:spcBef>
            </a:pPr>
            <a:r>
              <a:rPr lang="en-US" b="true" sz="2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DAGvRPNVLq4</dc:identifier>
  <dcterms:modified xsi:type="dcterms:W3CDTF">2011-08-01T06:04:30Z</dcterms:modified>
  <cp:revision>1</cp:revision>
  <dc:title>Blue and Pink Modern Mobile Apps Presentation</dc:title>
</cp:coreProperties>
</file>